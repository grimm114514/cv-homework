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8" r:id="rId8"/>
    <p:sldId id="266" r:id="rId9"/>
    <p:sldId id="267" r:id="rId10"/>
    <p:sldId id="269" r:id="rId11"/>
    <p:sldId id="265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0" r:id="rId20"/>
    <p:sldId id="27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9E81E4-3641-4F3A-A7FF-071C8AD2EF0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9F46E65-11DE-47CE-9445-64200CF431A8}">
      <dgm:prSet phldrT="[文本]"/>
      <dgm:spPr/>
      <dgm:t>
        <a:bodyPr/>
        <a:lstStyle/>
        <a:p>
          <a:r>
            <a:rPr lang="zh-CN" altLang="en-US" dirty="0"/>
            <a:t>任务背景</a:t>
          </a:r>
        </a:p>
      </dgm:t>
    </dgm:pt>
    <dgm:pt modelId="{6924FC05-5095-4061-88BF-D773597A898D}" type="parTrans" cxnId="{42550E58-6C0B-48AD-AF54-8B1345B0FAE9}">
      <dgm:prSet/>
      <dgm:spPr/>
      <dgm:t>
        <a:bodyPr/>
        <a:lstStyle/>
        <a:p>
          <a:endParaRPr lang="zh-CN" altLang="en-US"/>
        </a:p>
      </dgm:t>
    </dgm:pt>
    <dgm:pt modelId="{0F607E61-83CA-4734-BA53-40836AD71787}" type="sibTrans" cxnId="{42550E58-6C0B-48AD-AF54-8B1345B0FAE9}">
      <dgm:prSet/>
      <dgm:spPr/>
      <dgm:t>
        <a:bodyPr/>
        <a:lstStyle/>
        <a:p>
          <a:endParaRPr lang="zh-CN" altLang="en-US"/>
        </a:p>
      </dgm:t>
    </dgm:pt>
    <dgm:pt modelId="{25D14F8C-5803-44A7-A2D2-0439D2593EC6}">
      <dgm:prSet phldrT="[文本]" custT="1"/>
      <dgm:spPr/>
      <dgm:t>
        <a:bodyPr/>
        <a:lstStyle/>
        <a:p>
          <a:r>
            <a:rPr lang="zh-CN" altLang="en-US" sz="2000" dirty="0"/>
            <a:t>相关概念</a:t>
          </a:r>
        </a:p>
      </dgm:t>
    </dgm:pt>
    <dgm:pt modelId="{DF5906ED-B823-4F74-9D86-BE0E5E402785}" type="parTrans" cxnId="{4E772B99-2B6B-4CEA-BE6F-D2BC97358644}">
      <dgm:prSet/>
      <dgm:spPr/>
      <dgm:t>
        <a:bodyPr/>
        <a:lstStyle/>
        <a:p>
          <a:endParaRPr lang="zh-CN" altLang="en-US"/>
        </a:p>
      </dgm:t>
    </dgm:pt>
    <dgm:pt modelId="{73B3280E-D8FD-4FEF-A35D-13B4293FBF27}" type="sibTrans" cxnId="{4E772B99-2B6B-4CEA-BE6F-D2BC97358644}">
      <dgm:prSet/>
      <dgm:spPr/>
      <dgm:t>
        <a:bodyPr/>
        <a:lstStyle/>
        <a:p>
          <a:endParaRPr lang="zh-CN" altLang="en-US"/>
        </a:p>
      </dgm:t>
    </dgm:pt>
    <dgm:pt modelId="{372EE177-9220-4540-AA03-54030447A842}">
      <dgm:prSet phldrT="[文本]" custT="1"/>
      <dgm:spPr/>
      <dgm:t>
        <a:bodyPr/>
        <a:lstStyle/>
        <a:p>
          <a:r>
            <a:rPr lang="zh-CN" altLang="en-US" sz="2000" dirty="0"/>
            <a:t>前人工作</a:t>
          </a:r>
        </a:p>
      </dgm:t>
    </dgm:pt>
    <dgm:pt modelId="{BF016E00-4292-4B47-B048-3FCCDAA2D9CA}" type="parTrans" cxnId="{E509526F-317B-4457-9853-75FD2511D6A7}">
      <dgm:prSet/>
      <dgm:spPr/>
      <dgm:t>
        <a:bodyPr/>
        <a:lstStyle/>
        <a:p>
          <a:endParaRPr lang="zh-CN" altLang="en-US"/>
        </a:p>
      </dgm:t>
    </dgm:pt>
    <dgm:pt modelId="{D37C1B84-5794-4071-B464-65C6DC93AE5C}" type="sibTrans" cxnId="{E509526F-317B-4457-9853-75FD2511D6A7}">
      <dgm:prSet/>
      <dgm:spPr/>
      <dgm:t>
        <a:bodyPr/>
        <a:lstStyle/>
        <a:p>
          <a:endParaRPr lang="zh-CN" altLang="en-US"/>
        </a:p>
      </dgm:t>
    </dgm:pt>
    <dgm:pt modelId="{E029E8E3-BA94-4E38-B486-F0BE93D0CB8F}">
      <dgm:prSet phldrT="[文本]"/>
      <dgm:spPr/>
      <dgm:t>
        <a:bodyPr/>
        <a:lstStyle/>
        <a:p>
          <a:r>
            <a:rPr lang="zh-CN" altLang="en-US" dirty="0"/>
            <a:t>论文原理</a:t>
          </a:r>
        </a:p>
      </dgm:t>
    </dgm:pt>
    <dgm:pt modelId="{14C61FFA-816C-44FC-864B-3C63AFE73F2F}" type="parTrans" cxnId="{869AFED1-D723-4F9E-B832-50B06E149789}">
      <dgm:prSet/>
      <dgm:spPr/>
      <dgm:t>
        <a:bodyPr/>
        <a:lstStyle/>
        <a:p>
          <a:endParaRPr lang="zh-CN" altLang="en-US"/>
        </a:p>
      </dgm:t>
    </dgm:pt>
    <dgm:pt modelId="{58AFD101-6985-4BF6-834D-539ECBFF4EB0}" type="sibTrans" cxnId="{869AFED1-D723-4F9E-B832-50B06E149789}">
      <dgm:prSet/>
      <dgm:spPr/>
      <dgm:t>
        <a:bodyPr/>
        <a:lstStyle/>
        <a:p>
          <a:endParaRPr lang="zh-CN" altLang="en-US"/>
        </a:p>
      </dgm:t>
    </dgm:pt>
    <dgm:pt modelId="{82C6670B-C307-4FC0-9F85-9E13BB2B7F32}">
      <dgm:prSet phldrT="[文本]" custT="1"/>
      <dgm:spPr/>
      <dgm:t>
        <a:bodyPr/>
        <a:lstStyle/>
        <a:p>
          <a:r>
            <a:rPr lang="zh-CN" altLang="en-US" sz="2000" dirty="0"/>
            <a:t>创新点</a:t>
          </a:r>
        </a:p>
      </dgm:t>
    </dgm:pt>
    <dgm:pt modelId="{ABBB20B2-9917-4FA2-BCD2-F2A3833F7B28}" type="parTrans" cxnId="{1808CAB8-EF62-4729-B09E-8CC7624BD396}">
      <dgm:prSet/>
      <dgm:spPr/>
      <dgm:t>
        <a:bodyPr/>
        <a:lstStyle/>
        <a:p>
          <a:endParaRPr lang="zh-CN" altLang="en-US"/>
        </a:p>
      </dgm:t>
    </dgm:pt>
    <dgm:pt modelId="{D05265B2-28E2-4298-8C87-7C3F9B6F13D6}" type="sibTrans" cxnId="{1808CAB8-EF62-4729-B09E-8CC7624BD396}">
      <dgm:prSet/>
      <dgm:spPr/>
      <dgm:t>
        <a:bodyPr/>
        <a:lstStyle/>
        <a:p>
          <a:endParaRPr lang="zh-CN" altLang="en-US"/>
        </a:p>
      </dgm:t>
    </dgm:pt>
    <dgm:pt modelId="{05BE3A41-958E-4FE3-9CDB-04212D4ACD67}">
      <dgm:prSet phldrT="[文本]"/>
      <dgm:spPr/>
      <dgm:t>
        <a:bodyPr/>
        <a:lstStyle/>
        <a:p>
          <a:r>
            <a:rPr lang="zh-CN" altLang="en-US" dirty="0"/>
            <a:t>实验</a:t>
          </a:r>
        </a:p>
      </dgm:t>
    </dgm:pt>
    <dgm:pt modelId="{E36211EB-3DC1-42E1-BC22-E28DC51C684F}" type="parTrans" cxnId="{0ADE4EBB-C7A6-4865-8353-86D20CDB74DE}">
      <dgm:prSet/>
      <dgm:spPr/>
      <dgm:t>
        <a:bodyPr/>
        <a:lstStyle/>
        <a:p>
          <a:endParaRPr lang="zh-CN" altLang="en-US"/>
        </a:p>
      </dgm:t>
    </dgm:pt>
    <dgm:pt modelId="{7A1AFF6E-B06C-4FDB-B2E5-E23D050CF923}" type="sibTrans" cxnId="{0ADE4EBB-C7A6-4865-8353-86D20CDB74DE}">
      <dgm:prSet/>
      <dgm:spPr/>
      <dgm:t>
        <a:bodyPr/>
        <a:lstStyle/>
        <a:p>
          <a:endParaRPr lang="zh-CN" altLang="en-US"/>
        </a:p>
      </dgm:t>
    </dgm:pt>
    <dgm:pt modelId="{588FAB3E-8E08-430E-A7D8-AB20D23081EF}">
      <dgm:prSet phldrT="[文本]" custT="1"/>
      <dgm:spPr/>
      <dgm:t>
        <a:bodyPr/>
        <a:lstStyle/>
        <a:p>
          <a:r>
            <a:rPr lang="zh-CN" altLang="en-US" sz="2000" dirty="0"/>
            <a:t>实验过程</a:t>
          </a:r>
        </a:p>
      </dgm:t>
    </dgm:pt>
    <dgm:pt modelId="{80D371FF-E907-468E-BA09-452839BBAF20}" type="parTrans" cxnId="{DA17A00B-7EEC-47EB-91B7-8731DFE8387D}">
      <dgm:prSet/>
      <dgm:spPr/>
      <dgm:t>
        <a:bodyPr/>
        <a:lstStyle/>
        <a:p>
          <a:endParaRPr lang="zh-CN" altLang="en-US"/>
        </a:p>
      </dgm:t>
    </dgm:pt>
    <dgm:pt modelId="{FC23DDF3-A4CC-473A-A2C6-95076648419B}" type="sibTrans" cxnId="{DA17A00B-7EEC-47EB-91B7-8731DFE8387D}">
      <dgm:prSet/>
      <dgm:spPr/>
      <dgm:t>
        <a:bodyPr/>
        <a:lstStyle/>
        <a:p>
          <a:endParaRPr lang="zh-CN" altLang="en-US"/>
        </a:p>
      </dgm:t>
    </dgm:pt>
    <dgm:pt modelId="{4F3F3D2A-F138-4985-AD1D-93D20DEAEF26}">
      <dgm:prSet phldrT="[文本]" custT="1"/>
      <dgm:spPr/>
      <dgm:t>
        <a:bodyPr/>
        <a:lstStyle/>
        <a:p>
          <a:r>
            <a:rPr lang="zh-CN" altLang="en-US" sz="2000" dirty="0"/>
            <a:t>结果与结论</a:t>
          </a:r>
        </a:p>
      </dgm:t>
    </dgm:pt>
    <dgm:pt modelId="{3F601823-9433-478C-BB07-163E2D71323F}" type="parTrans" cxnId="{6B925AEB-9487-4B5F-A3B8-3CF956316728}">
      <dgm:prSet/>
      <dgm:spPr/>
      <dgm:t>
        <a:bodyPr/>
        <a:lstStyle/>
        <a:p>
          <a:endParaRPr lang="zh-CN" altLang="en-US"/>
        </a:p>
      </dgm:t>
    </dgm:pt>
    <dgm:pt modelId="{0D715616-3874-46B5-9DB6-628F77002CDD}" type="sibTrans" cxnId="{6B925AEB-9487-4B5F-A3B8-3CF956316728}">
      <dgm:prSet/>
      <dgm:spPr/>
      <dgm:t>
        <a:bodyPr/>
        <a:lstStyle/>
        <a:p>
          <a:endParaRPr lang="zh-CN" altLang="en-US"/>
        </a:p>
      </dgm:t>
    </dgm:pt>
    <dgm:pt modelId="{47FCFBF9-6E75-4F5C-B7F7-F452E464FB24}" type="pres">
      <dgm:prSet presAssocID="{239E81E4-3641-4F3A-A7FF-071C8AD2EF04}" presName="Name0" presStyleCnt="0">
        <dgm:presLayoutVars>
          <dgm:dir/>
          <dgm:animLvl val="lvl"/>
          <dgm:resizeHandles val="exact"/>
        </dgm:presLayoutVars>
      </dgm:prSet>
      <dgm:spPr/>
    </dgm:pt>
    <dgm:pt modelId="{0E9F2FFC-858B-4E6E-8055-C4E2E6E81DBE}" type="pres">
      <dgm:prSet presAssocID="{59F46E65-11DE-47CE-9445-64200CF431A8}" presName="composite" presStyleCnt="0"/>
      <dgm:spPr/>
    </dgm:pt>
    <dgm:pt modelId="{A0D0FF07-0FC2-4361-BBCB-886F168523C2}" type="pres">
      <dgm:prSet presAssocID="{59F46E65-11DE-47CE-9445-64200CF431A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60DE56B-C1D9-42E4-A942-F7DDC8F7C922}" type="pres">
      <dgm:prSet presAssocID="{59F46E65-11DE-47CE-9445-64200CF431A8}" presName="desTx" presStyleLbl="alignAccFollowNode1" presStyleIdx="0" presStyleCnt="3">
        <dgm:presLayoutVars>
          <dgm:bulletEnabled val="1"/>
        </dgm:presLayoutVars>
      </dgm:prSet>
      <dgm:spPr/>
    </dgm:pt>
    <dgm:pt modelId="{AD587A14-5A11-4EF0-BAD4-98813806059D}" type="pres">
      <dgm:prSet presAssocID="{0F607E61-83CA-4734-BA53-40836AD71787}" presName="space" presStyleCnt="0"/>
      <dgm:spPr/>
    </dgm:pt>
    <dgm:pt modelId="{7D6D0BE7-08A8-432D-B3B5-D845093E3C95}" type="pres">
      <dgm:prSet presAssocID="{E029E8E3-BA94-4E38-B486-F0BE93D0CB8F}" presName="composite" presStyleCnt="0"/>
      <dgm:spPr/>
    </dgm:pt>
    <dgm:pt modelId="{E43B3BEE-510E-4395-BDAD-CB4CB5BA4C94}" type="pres">
      <dgm:prSet presAssocID="{E029E8E3-BA94-4E38-B486-F0BE93D0CB8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7BD0FE5-FA42-4B26-B7DD-F817CB935346}" type="pres">
      <dgm:prSet presAssocID="{E029E8E3-BA94-4E38-B486-F0BE93D0CB8F}" presName="desTx" presStyleLbl="alignAccFollowNode1" presStyleIdx="1" presStyleCnt="3">
        <dgm:presLayoutVars>
          <dgm:bulletEnabled val="1"/>
        </dgm:presLayoutVars>
      </dgm:prSet>
      <dgm:spPr/>
    </dgm:pt>
    <dgm:pt modelId="{DC35FD3B-945A-4DB4-B383-EF33A79C357D}" type="pres">
      <dgm:prSet presAssocID="{58AFD101-6985-4BF6-834D-539ECBFF4EB0}" presName="space" presStyleCnt="0"/>
      <dgm:spPr/>
    </dgm:pt>
    <dgm:pt modelId="{00D4BCEC-1544-4EE2-8467-503538DFF539}" type="pres">
      <dgm:prSet presAssocID="{05BE3A41-958E-4FE3-9CDB-04212D4ACD67}" presName="composite" presStyleCnt="0"/>
      <dgm:spPr/>
    </dgm:pt>
    <dgm:pt modelId="{35C6C27F-C411-41AF-89D3-8DB1AB547C75}" type="pres">
      <dgm:prSet presAssocID="{05BE3A41-958E-4FE3-9CDB-04212D4ACD6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B74609E-B1F4-46CE-9523-EA37010C8E5F}" type="pres">
      <dgm:prSet presAssocID="{05BE3A41-958E-4FE3-9CDB-04212D4ACD6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A17A00B-7EEC-47EB-91B7-8731DFE8387D}" srcId="{05BE3A41-958E-4FE3-9CDB-04212D4ACD67}" destId="{588FAB3E-8E08-430E-A7D8-AB20D23081EF}" srcOrd="0" destOrd="0" parTransId="{80D371FF-E907-468E-BA09-452839BBAF20}" sibTransId="{FC23DDF3-A4CC-473A-A2C6-95076648419B}"/>
    <dgm:cxn modelId="{BF495230-ED9A-40EE-9902-417F2F9ED14D}" type="presOf" srcId="{E029E8E3-BA94-4E38-B486-F0BE93D0CB8F}" destId="{E43B3BEE-510E-4395-BDAD-CB4CB5BA4C94}" srcOrd="0" destOrd="0" presId="urn:microsoft.com/office/officeart/2005/8/layout/hList1"/>
    <dgm:cxn modelId="{CAD46063-114E-422D-8BD0-E380A789CC21}" type="presOf" srcId="{372EE177-9220-4540-AA03-54030447A842}" destId="{160DE56B-C1D9-42E4-A942-F7DDC8F7C922}" srcOrd="0" destOrd="1" presId="urn:microsoft.com/office/officeart/2005/8/layout/hList1"/>
    <dgm:cxn modelId="{9764CC44-85EA-48C7-8B09-3A82DC1AEEA0}" type="presOf" srcId="{588FAB3E-8E08-430E-A7D8-AB20D23081EF}" destId="{9B74609E-B1F4-46CE-9523-EA37010C8E5F}" srcOrd="0" destOrd="0" presId="urn:microsoft.com/office/officeart/2005/8/layout/hList1"/>
    <dgm:cxn modelId="{F0B6E447-D163-4ACD-9943-4818E8D668C0}" type="presOf" srcId="{239E81E4-3641-4F3A-A7FF-071C8AD2EF04}" destId="{47FCFBF9-6E75-4F5C-B7F7-F452E464FB24}" srcOrd="0" destOrd="0" presId="urn:microsoft.com/office/officeart/2005/8/layout/hList1"/>
    <dgm:cxn modelId="{E509526F-317B-4457-9853-75FD2511D6A7}" srcId="{59F46E65-11DE-47CE-9445-64200CF431A8}" destId="{372EE177-9220-4540-AA03-54030447A842}" srcOrd="1" destOrd="0" parTransId="{BF016E00-4292-4B47-B048-3FCCDAA2D9CA}" sibTransId="{D37C1B84-5794-4071-B464-65C6DC93AE5C}"/>
    <dgm:cxn modelId="{8D1FC677-C5D8-4F64-8C9E-C2CC7252B704}" type="presOf" srcId="{05BE3A41-958E-4FE3-9CDB-04212D4ACD67}" destId="{35C6C27F-C411-41AF-89D3-8DB1AB547C75}" srcOrd="0" destOrd="0" presId="urn:microsoft.com/office/officeart/2005/8/layout/hList1"/>
    <dgm:cxn modelId="{42550E58-6C0B-48AD-AF54-8B1345B0FAE9}" srcId="{239E81E4-3641-4F3A-A7FF-071C8AD2EF04}" destId="{59F46E65-11DE-47CE-9445-64200CF431A8}" srcOrd="0" destOrd="0" parTransId="{6924FC05-5095-4061-88BF-D773597A898D}" sibTransId="{0F607E61-83CA-4734-BA53-40836AD71787}"/>
    <dgm:cxn modelId="{673E9F79-7DDD-4B00-BBEF-320EFC1FDF19}" type="presOf" srcId="{4F3F3D2A-F138-4985-AD1D-93D20DEAEF26}" destId="{9B74609E-B1F4-46CE-9523-EA37010C8E5F}" srcOrd="0" destOrd="1" presId="urn:microsoft.com/office/officeart/2005/8/layout/hList1"/>
    <dgm:cxn modelId="{4E772B99-2B6B-4CEA-BE6F-D2BC97358644}" srcId="{59F46E65-11DE-47CE-9445-64200CF431A8}" destId="{25D14F8C-5803-44A7-A2D2-0439D2593EC6}" srcOrd="0" destOrd="0" parTransId="{DF5906ED-B823-4F74-9D86-BE0E5E402785}" sibTransId="{73B3280E-D8FD-4FEF-A35D-13B4293FBF27}"/>
    <dgm:cxn modelId="{C84ABFB1-3A74-4CF9-A659-EC4BC185DDF4}" type="presOf" srcId="{25D14F8C-5803-44A7-A2D2-0439D2593EC6}" destId="{160DE56B-C1D9-42E4-A942-F7DDC8F7C922}" srcOrd="0" destOrd="0" presId="urn:microsoft.com/office/officeart/2005/8/layout/hList1"/>
    <dgm:cxn modelId="{4A439BB8-2425-4E6A-9082-5E382A553586}" type="presOf" srcId="{59F46E65-11DE-47CE-9445-64200CF431A8}" destId="{A0D0FF07-0FC2-4361-BBCB-886F168523C2}" srcOrd="0" destOrd="0" presId="urn:microsoft.com/office/officeart/2005/8/layout/hList1"/>
    <dgm:cxn modelId="{1808CAB8-EF62-4729-B09E-8CC7624BD396}" srcId="{E029E8E3-BA94-4E38-B486-F0BE93D0CB8F}" destId="{82C6670B-C307-4FC0-9F85-9E13BB2B7F32}" srcOrd="0" destOrd="0" parTransId="{ABBB20B2-9917-4FA2-BCD2-F2A3833F7B28}" sibTransId="{D05265B2-28E2-4298-8C87-7C3F9B6F13D6}"/>
    <dgm:cxn modelId="{0ADE4EBB-C7A6-4865-8353-86D20CDB74DE}" srcId="{239E81E4-3641-4F3A-A7FF-071C8AD2EF04}" destId="{05BE3A41-958E-4FE3-9CDB-04212D4ACD67}" srcOrd="2" destOrd="0" parTransId="{E36211EB-3DC1-42E1-BC22-E28DC51C684F}" sibTransId="{7A1AFF6E-B06C-4FDB-B2E5-E23D050CF923}"/>
    <dgm:cxn modelId="{869AFED1-D723-4F9E-B832-50B06E149789}" srcId="{239E81E4-3641-4F3A-A7FF-071C8AD2EF04}" destId="{E029E8E3-BA94-4E38-B486-F0BE93D0CB8F}" srcOrd="1" destOrd="0" parTransId="{14C61FFA-816C-44FC-864B-3C63AFE73F2F}" sibTransId="{58AFD101-6985-4BF6-834D-539ECBFF4EB0}"/>
    <dgm:cxn modelId="{06BA7DD2-1E62-4CBB-82FA-259BFC2BEA08}" type="presOf" srcId="{82C6670B-C307-4FC0-9F85-9E13BB2B7F32}" destId="{57BD0FE5-FA42-4B26-B7DD-F817CB935346}" srcOrd="0" destOrd="0" presId="urn:microsoft.com/office/officeart/2005/8/layout/hList1"/>
    <dgm:cxn modelId="{6B925AEB-9487-4B5F-A3B8-3CF956316728}" srcId="{05BE3A41-958E-4FE3-9CDB-04212D4ACD67}" destId="{4F3F3D2A-F138-4985-AD1D-93D20DEAEF26}" srcOrd="1" destOrd="0" parTransId="{3F601823-9433-478C-BB07-163E2D71323F}" sibTransId="{0D715616-3874-46B5-9DB6-628F77002CDD}"/>
    <dgm:cxn modelId="{19AD94EE-38DE-4B59-B976-5F5AC31771FC}" type="presParOf" srcId="{47FCFBF9-6E75-4F5C-B7F7-F452E464FB24}" destId="{0E9F2FFC-858B-4E6E-8055-C4E2E6E81DBE}" srcOrd="0" destOrd="0" presId="urn:microsoft.com/office/officeart/2005/8/layout/hList1"/>
    <dgm:cxn modelId="{08233385-3DB7-4A21-AEA3-393D9EF2BDB9}" type="presParOf" srcId="{0E9F2FFC-858B-4E6E-8055-C4E2E6E81DBE}" destId="{A0D0FF07-0FC2-4361-BBCB-886F168523C2}" srcOrd="0" destOrd="0" presId="urn:microsoft.com/office/officeart/2005/8/layout/hList1"/>
    <dgm:cxn modelId="{9B9FE761-9379-4C5E-BEB0-98B0A5E279EC}" type="presParOf" srcId="{0E9F2FFC-858B-4E6E-8055-C4E2E6E81DBE}" destId="{160DE56B-C1D9-42E4-A942-F7DDC8F7C922}" srcOrd="1" destOrd="0" presId="urn:microsoft.com/office/officeart/2005/8/layout/hList1"/>
    <dgm:cxn modelId="{CE04137A-8720-40D5-B236-1C48E313EAD1}" type="presParOf" srcId="{47FCFBF9-6E75-4F5C-B7F7-F452E464FB24}" destId="{AD587A14-5A11-4EF0-BAD4-98813806059D}" srcOrd="1" destOrd="0" presId="urn:microsoft.com/office/officeart/2005/8/layout/hList1"/>
    <dgm:cxn modelId="{5F2361A7-4AF3-4CAA-9892-7EC91E131B3E}" type="presParOf" srcId="{47FCFBF9-6E75-4F5C-B7F7-F452E464FB24}" destId="{7D6D0BE7-08A8-432D-B3B5-D845093E3C95}" srcOrd="2" destOrd="0" presId="urn:microsoft.com/office/officeart/2005/8/layout/hList1"/>
    <dgm:cxn modelId="{0E14F166-BDC8-411A-AF69-B4299F593763}" type="presParOf" srcId="{7D6D0BE7-08A8-432D-B3B5-D845093E3C95}" destId="{E43B3BEE-510E-4395-BDAD-CB4CB5BA4C94}" srcOrd="0" destOrd="0" presId="urn:microsoft.com/office/officeart/2005/8/layout/hList1"/>
    <dgm:cxn modelId="{AB2A7636-772D-4600-BB5E-E08A1EAFA2A1}" type="presParOf" srcId="{7D6D0BE7-08A8-432D-B3B5-D845093E3C95}" destId="{57BD0FE5-FA42-4B26-B7DD-F817CB935346}" srcOrd="1" destOrd="0" presId="urn:microsoft.com/office/officeart/2005/8/layout/hList1"/>
    <dgm:cxn modelId="{8A3892E2-8CB4-426F-87EA-6C6E5D4E36FC}" type="presParOf" srcId="{47FCFBF9-6E75-4F5C-B7F7-F452E464FB24}" destId="{DC35FD3B-945A-4DB4-B383-EF33A79C357D}" srcOrd="3" destOrd="0" presId="urn:microsoft.com/office/officeart/2005/8/layout/hList1"/>
    <dgm:cxn modelId="{41909644-9DEA-46C4-85C1-30B2C56174F5}" type="presParOf" srcId="{47FCFBF9-6E75-4F5C-B7F7-F452E464FB24}" destId="{00D4BCEC-1544-4EE2-8467-503538DFF539}" srcOrd="4" destOrd="0" presId="urn:microsoft.com/office/officeart/2005/8/layout/hList1"/>
    <dgm:cxn modelId="{950DC48A-7FA7-4B22-BDF0-2681A4E85745}" type="presParOf" srcId="{00D4BCEC-1544-4EE2-8467-503538DFF539}" destId="{35C6C27F-C411-41AF-89D3-8DB1AB547C75}" srcOrd="0" destOrd="0" presId="urn:microsoft.com/office/officeart/2005/8/layout/hList1"/>
    <dgm:cxn modelId="{10BA437C-B77E-48C7-873D-323959DCCA5E}" type="presParOf" srcId="{00D4BCEC-1544-4EE2-8467-503538DFF539}" destId="{9B74609E-B1F4-46CE-9523-EA37010C8E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0FF07-0FC2-4361-BBCB-886F168523C2}">
      <dsp:nvSpPr>
        <dsp:cNvPr id="0" name=""/>
        <dsp:cNvSpPr/>
      </dsp:nvSpPr>
      <dsp:spPr>
        <a:xfrm>
          <a:off x="2540" y="137955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任务背景</a:t>
          </a:r>
        </a:p>
      </dsp:txBody>
      <dsp:txXfrm>
        <a:off x="2540" y="1379553"/>
        <a:ext cx="2476500" cy="990600"/>
      </dsp:txXfrm>
    </dsp:sp>
    <dsp:sp modelId="{160DE56B-C1D9-42E4-A942-F7DDC8F7C922}">
      <dsp:nvSpPr>
        <dsp:cNvPr id="0" name=""/>
        <dsp:cNvSpPr/>
      </dsp:nvSpPr>
      <dsp:spPr>
        <a:xfrm>
          <a:off x="2540" y="2370153"/>
          <a:ext cx="2476500" cy="1668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相关概念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前人工作</a:t>
          </a:r>
        </a:p>
      </dsp:txBody>
      <dsp:txXfrm>
        <a:off x="2540" y="2370153"/>
        <a:ext cx="2476500" cy="1668960"/>
      </dsp:txXfrm>
    </dsp:sp>
    <dsp:sp modelId="{E43B3BEE-510E-4395-BDAD-CB4CB5BA4C94}">
      <dsp:nvSpPr>
        <dsp:cNvPr id="0" name=""/>
        <dsp:cNvSpPr/>
      </dsp:nvSpPr>
      <dsp:spPr>
        <a:xfrm>
          <a:off x="2825750" y="137955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论文原理</a:t>
          </a:r>
        </a:p>
      </dsp:txBody>
      <dsp:txXfrm>
        <a:off x="2825750" y="1379553"/>
        <a:ext cx="2476500" cy="990600"/>
      </dsp:txXfrm>
    </dsp:sp>
    <dsp:sp modelId="{57BD0FE5-FA42-4B26-B7DD-F817CB935346}">
      <dsp:nvSpPr>
        <dsp:cNvPr id="0" name=""/>
        <dsp:cNvSpPr/>
      </dsp:nvSpPr>
      <dsp:spPr>
        <a:xfrm>
          <a:off x="2825750" y="2370153"/>
          <a:ext cx="2476500" cy="1668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创新点</a:t>
          </a:r>
        </a:p>
      </dsp:txBody>
      <dsp:txXfrm>
        <a:off x="2825750" y="2370153"/>
        <a:ext cx="2476500" cy="1668960"/>
      </dsp:txXfrm>
    </dsp:sp>
    <dsp:sp modelId="{35C6C27F-C411-41AF-89D3-8DB1AB547C75}">
      <dsp:nvSpPr>
        <dsp:cNvPr id="0" name=""/>
        <dsp:cNvSpPr/>
      </dsp:nvSpPr>
      <dsp:spPr>
        <a:xfrm>
          <a:off x="5648960" y="137955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实验</a:t>
          </a:r>
        </a:p>
      </dsp:txBody>
      <dsp:txXfrm>
        <a:off x="5648960" y="1379553"/>
        <a:ext cx="2476500" cy="990600"/>
      </dsp:txXfrm>
    </dsp:sp>
    <dsp:sp modelId="{9B74609E-B1F4-46CE-9523-EA37010C8E5F}">
      <dsp:nvSpPr>
        <dsp:cNvPr id="0" name=""/>
        <dsp:cNvSpPr/>
      </dsp:nvSpPr>
      <dsp:spPr>
        <a:xfrm>
          <a:off x="5648960" y="2370153"/>
          <a:ext cx="2476500" cy="1668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实验过程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结果与结论</a:t>
          </a:r>
        </a:p>
      </dsp:txBody>
      <dsp:txXfrm>
        <a:off x="5648960" y="2370153"/>
        <a:ext cx="2476500" cy="1668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30193-1ADC-39D8-847D-7F61BF6E6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ABE5DA-753B-E91D-8220-0B122ED1A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EC3E99-D6DE-EEFC-EAE3-39830ECA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7E8E0-6FEE-A464-5284-6DD1D956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046ED-7810-35C2-9E18-F4A278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6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99F02-523F-5DC0-358C-AD74F8A5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FC6794-5CAB-2DBA-4993-96CBFD7AE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3E63-A075-B136-F296-872E140B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7DC0F7-EBD0-53ED-1F8B-3EFF897C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05E0F-50CF-7E6D-E0BD-10E74602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75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9707C-2203-5221-F6FE-984A645A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39A99-CF91-72FB-AC64-9363858AC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7A8DD-644A-C51F-CDC3-9C3778E3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79373-CF8C-DD8C-D98D-B8F4869E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BFB0C-BB10-5749-A794-3F9A316D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9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BB3A8-49F2-EE5F-86C6-66ED1D11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F0E5A-22EC-C3ED-25E5-16E1F9D2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C578A6-E064-73B9-9128-45051561A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8CFB3A-DF32-9358-9D38-9301C4B0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C40B01-E234-DE41-E248-D1D25F62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3F9959-631D-A540-59CD-600008B7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12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C7910-C0C8-D36F-0906-58EBBC7D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5CA71-2B65-C7F4-1A1E-BF883366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B7875F-3553-633E-AB1E-89CCB5326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795283-F7CE-9210-1022-DEBEDC2B4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9BAF88-AB8D-DAA1-47C1-B8428F490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ABF50D-372A-5D02-7C74-C776682F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B2CCCD-0D4B-65D2-B5F9-1FA2F1C5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194F19-41AC-02F9-9321-C12863B0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9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90835-8422-208D-23CB-2655C8E2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C15911-DC57-16D6-BCA4-516814A1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86809F-2DAE-4AAF-48D0-D97FABF4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876034-2C63-C24F-53D3-A0F57F88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32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4BC9C7-6615-04C2-C194-A1C8795A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5F220C-8038-7024-5866-1E09197E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315C21-4332-0D55-4F0D-5FE02D3D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13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8C958-D6E3-550E-DA39-D1E91CC5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EE27-E85F-A809-89B3-CBBB14396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985456-0B82-71C7-98AA-087A5FE0B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13D3B-E819-FCCE-24B9-B9A93C61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A55159-A2B9-1BCD-9808-26E5589D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09620-1F84-C896-17E3-9B1E5B12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4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7D74C-A2A7-EC42-D2F2-1393B0AD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180771-9703-F02F-FE76-74F6D13F9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4494F7-9C42-43F9-F318-A8D60C6C9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7651F1-F029-77A2-7DC4-FA9AD37A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CC336D-AD79-3856-C37D-4E3BB5CB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F8B05-0979-41D8-F33E-709590FF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49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D83FD-4955-70DD-8F8C-06BC19BF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11C8C3-BED2-176E-4741-75A27E9D2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4DA332-1741-D67E-460F-263EB4DC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47320-6F44-9B67-B1D2-462A05A0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B96C5-16FE-D9C2-1231-9E74EF2F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65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F56286-418C-834E-8F22-FEBAE4AA9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C04960-8E45-C97A-181E-2DB7FDB3A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64882F-E217-8FA2-6659-F5BF8AA2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A7925-5822-F807-492D-42DF445C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10E20-1DFA-F49B-5AE3-74CF6DE7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2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C84D3B-3719-648D-EB40-9FC1B5ED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CECE4A-4484-F308-4950-0F5F0547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E0D5F-65C8-834E-88AE-7F65D6D9B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23DE6-8C69-450A-B260-047DE1F54FDF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11D48-DF80-030C-207E-EAC805FBD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65FE6D-E649-8E1A-C660-CA6E28EC9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2B760-9D30-4335-BEA8-6CAD16A6F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6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B3E12-61DD-66DE-8B27-8174A90F2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02059B-F3E2-A6C0-2EBD-674AC8EAB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0A1D2A-4420-2860-0D21-182D0454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96" y="14358"/>
            <a:ext cx="2031859" cy="2031859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32A65893-0B7A-7D0F-9302-E0467139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645" y="2285840"/>
            <a:ext cx="8230749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C379-97E3-85EA-CA03-93BA899D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65DB5-57C3-309D-4BFA-5FF217F5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目录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2BF8D66-E13D-E6B0-D7A3-53799BD15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30A0F03-C770-0873-3E40-8283749AC09B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BA47F173-E4C4-9F1C-10E9-6A19F64D0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96933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131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665C-3BFB-E06D-5424-38635F7A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5D832-68BC-C910-A03F-0635BEE5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865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任务背景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969DCA-ABD5-815F-39EB-5A07D9F02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9368907-10C2-AD0E-0B27-0A90A94FAFFC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33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C98E-E1DC-00D1-CEB4-E5F1530A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A17DC-C7FF-339E-4EEC-CC898419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深度神经网络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0FD44A0-9614-5682-7665-EDFA2CEE2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E8FA8B5-F60E-5308-C863-C42153FD77A4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0025A98-82F9-3BBC-F3C1-EBD8D17EE1A8}"/>
              </a:ext>
            </a:extLst>
          </p:cNvPr>
          <p:cNvSpPr txBox="1"/>
          <p:nvPr/>
        </p:nvSpPr>
        <p:spPr>
          <a:xfrm>
            <a:off x="608026" y="2218289"/>
            <a:ext cx="109759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深度卷积神经网络是一种多层架构，旨在确保网络对输入的 </a:t>
            </a:r>
            <a:r>
              <a:rPr lang="zh-CN" altLang="en-US" b="1" dirty="0"/>
              <a:t>平移、缩放和变形 </a:t>
            </a:r>
            <a:r>
              <a:rPr lang="zh-CN" altLang="en-US" dirty="0"/>
              <a:t>具有一定程度的不变性。 它结合了三个核心架构思想：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zh-CN" altLang="en-US" b="1" dirty="0"/>
              <a:t>局部感受野 </a:t>
            </a:r>
            <a:r>
              <a:rPr lang="en-US" altLang="zh-CN" b="1" dirty="0"/>
              <a:t>(Local Receptive Fields)</a:t>
            </a:r>
            <a:r>
              <a:rPr lang="en-US" altLang="zh-CN" dirty="0"/>
              <a:t>: </a:t>
            </a:r>
            <a:r>
              <a:rPr lang="zh-CN" altLang="en-US" dirty="0"/>
              <a:t>用于提取初级的视觉特征（如边缘、角点）。</a:t>
            </a:r>
            <a:endParaRPr lang="en-US" altLang="zh-CN" dirty="0"/>
          </a:p>
          <a:p>
            <a:pPr>
              <a:buFont typeface="+mj-lt"/>
              <a:buAutoNum type="arabicPeriod"/>
            </a:pP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zh-CN" altLang="en-US" b="1" dirty="0"/>
              <a:t>权值共享 </a:t>
            </a:r>
            <a:r>
              <a:rPr lang="en-US" altLang="zh-CN" b="1" dirty="0"/>
              <a:t>(Shared Weights)</a:t>
            </a:r>
            <a:r>
              <a:rPr lang="en-US" altLang="zh-CN" dirty="0"/>
              <a:t>: </a:t>
            </a:r>
            <a:r>
              <a:rPr lang="zh-CN" altLang="en-US" dirty="0"/>
              <a:t>减少自由参数的数量，从而提高泛化能力。</a:t>
            </a:r>
            <a:endParaRPr lang="en-US" altLang="zh-CN" dirty="0"/>
          </a:p>
          <a:p>
            <a:pPr>
              <a:buFont typeface="+mj-lt"/>
              <a:buAutoNum type="arabicPeriod"/>
            </a:pP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zh-CN" altLang="en-US" b="1" dirty="0"/>
              <a:t>空间下采样 </a:t>
            </a:r>
            <a:r>
              <a:rPr lang="en-US" altLang="zh-CN" b="1" dirty="0"/>
              <a:t>(Spatial Subsampling)</a:t>
            </a:r>
            <a:r>
              <a:rPr lang="en-US" altLang="zh-CN" dirty="0"/>
              <a:t>: </a:t>
            </a:r>
            <a:r>
              <a:rPr lang="zh-CN" altLang="en-US" dirty="0"/>
              <a:t>即池化，用于降低特征图的空间分辨率并获得平移不变性。</a:t>
            </a:r>
            <a:endParaRPr lang="en-US" altLang="zh-CN" dirty="0"/>
          </a:p>
          <a:p>
            <a:pPr algn="r"/>
            <a:r>
              <a:rPr lang="en-US" altLang="zh-CN" dirty="0"/>
              <a:t> </a:t>
            </a:r>
          </a:p>
          <a:p>
            <a:pPr algn="r"/>
            <a:r>
              <a:rPr lang="en-US" altLang="zh-CN" dirty="0"/>
              <a:t>LeCun, Y., et al. (1998). </a:t>
            </a:r>
            <a:r>
              <a:rPr lang="en-US" altLang="zh-CN" i="1" dirty="0"/>
              <a:t>"Gradient-based learning applied to document recognition"</a:t>
            </a:r>
            <a:r>
              <a:rPr lang="en-US" altLang="zh-CN" dirty="0"/>
              <a:t>. Proceedings of the IEEE.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839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EEF87-B44E-7D24-3254-0464DF82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09F9D-9104-779B-AF20-BEF86EC7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梯度消失</a:t>
            </a:r>
            <a:r>
              <a:rPr lang="en-US" altLang="zh-CN" sz="3200" dirty="0"/>
              <a:t>/</a:t>
            </a:r>
            <a:r>
              <a:rPr lang="zh-CN" altLang="zh-CN" sz="3200" dirty="0"/>
              <a:t>爆炸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35B03D-DB4B-C976-5EBC-657AFB69C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0442256-3215-6EC4-2648-A2FA305F6BDA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56E69C54-999C-0613-4102-8691EF082C72}"/>
              </a:ext>
            </a:extLst>
          </p:cNvPr>
          <p:cNvSpPr txBox="1"/>
          <p:nvPr/>
        </p:nvSpPr>
        <p:spPr>
          <a:xfrm>
            <a:off x="1331343" y="1921623"/>
            <a:ext cx="9529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梯度消失与爆炸是指在训练深度神经网络（尤其是 </a:t>
            </a:r>
            <a:r>
              <a:rPr lang="en-US" altLang="zh-CN" dirty="0"/>
              <a:t>RNN</a:t>
            </a:r>
            <a:r>
              <a:rPr lang="zh-CN" altLang="en-US" dirty="0"/>
              <a:t>）时，损失函数关于参数的梯度范数随着时间步（或层数）的增加而呈指数级衰减或增长的现象。</a:t>
            </a: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F9E642DC-1540-DF27-4B39-8C3DB7736BD3}"/>
              </a:ext>
            </a:extLst>
          </p:cNvPr>
          <p:cNvPicPr>
            <a:picLocks/>
          </p:cNvPicPr>
          <p:nvPr/>
        </p:nvPicPr>
        <p:blipFill>
          <a:blip r:embed="rId3"/>
          <a:srcRect l="6621" t="24295" r="13456" b="7893"/>
          <a:stretch>
            <a:fillRect/>
          </a:stretch>
        </p:blipFill>
        <p:spPr>
          <a:xfrm>
            <a:off x="1331343" y="1298199"/>
            <a:ext cx="2777705" cy="646331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08F35C5B-250D-8BFA-EA9B-D9CDE5E91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343" y="2772638"/>
            <a:ext cx="9235944" cy="317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9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A869-601C-5F7D-2432-097104E9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7CA55-DC26-2F06-8417-8571A7B2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退化问题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9B696E-5C26-EDDB-5D1B-18535D44B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6527346-5320-73DF-2659-2532E6E15A4F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A6BF66A2-8832-4BD3-DE28-FB4CB70D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4775"/>
            <a:ext cx="10226767" cy="322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377F-F1BF-1F5B-3FA7-C4ADC6AF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FACC4-74B0-B49F-BA41-EC620A86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3601"/>
            <a:ext cx="10515600" cy="865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相关工作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25CD08-0499-6088-1151-857731C11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45407A-89C2-580D-B7EB-1A31BA1CD7AD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64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8B8D-90A6-F42A-E0BC-47E4A2D0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BF479-EF72-49CB-2EA5-B8512B96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VGG (Visual Geometry Group)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5B1924-06A1-F29B-0BD6-0A691785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D9C5E74-E044-6903-598E-8B4D2A157542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12EB3B7-1FA4-8577-B1FD-35EB09364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062" y="1413306"/>
            <a:ext cx="7071875" cy="42077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FECC5A7-99CC-4E3B-E12A-99C4EEF6D68C}"/>
              </a:ext>
            </a:extLst>
          </p:cNvPr>
          <p:cNvSpPr txBox="1"/>
          <p:nvPr/>
        </p:nvSpPr>
        <p:spPr>
          <a:xfrm>
            <a:off x="1707916" y="5667079"/>
            <a:ext cx="8919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Very Deep Convolutional Networks for Large-Scale Image Recognition ICLR 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51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3269-38A4-E115-39E4-BDDB9804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A58A5-E60D-69D1-2B23-E2BEE773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捷径连接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083615-0C5E-4E49-39E7-3FB3B8EB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2CD527D-10E2-3C80-1414-464C446ADB6F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F0F94EC-360D-C3F2-2A3C-DB4223A81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7" y="1619108"/>
            <a:ext cx="5418970" cy="48133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F2A13F-EE8A-1907-D599-41B6C9EC98AF}"/>
              </a:ext>
            </a:extLst>
          </p:cNvPr>
          <p:cNvSpPr txBox="1"/>
          <p:nvPr/>
        </p:nvSpPr>
        <p:spPr>
          <a:xfrm>
            <a:off x="7188679" y="3279410"/>
            <a:ext cx="6096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99"/>
              </a:lnSpc>
              <a:spcAft>
                <a:spcPts val="900"/>
              </a:spcAft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Training Very Deep Networks </a:t>
            </a:r>
          </a:p>
          <a:p>
            <a:pPr>
              <a:lnSpc>
                <a:spcPts val="2099"/>
              </a:lnSpc>
              <a:spcAft>
                <a:spcPts val="900"/>
              </a:spcAft>
            </a:pPr>
            <a:r>
              <a:rPr lang="en-US" altLang="zh-CN" dirty="0"/>
              <a:t>Neural Information Processing Systems 2015</a:t>
            </a:r>
            <a:endParaRPr lang="en-US" altLang="zh-CN" b="1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946219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A858-A60B-96A5-CF6F-34F144A1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B137F-6E12-3128-0A6B-CCF90914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6233"/>
            <a:ext cx="10515600" cy="865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创新点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D526BF0-310F-B7B4-29DA-7ED1CBC3D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0CC256F-E380-4267-A0DB-7A24423A3D4D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70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9720C-84F1-7A46-0E07-D6C1CFA2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C98D6-3626-5B09-0E2E-ADE3ADE7A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残差表示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6838590-AA6D-534D-B0B2-C0D7A6CED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F6BEF4F-7835-2EA0-86B0-B81AEB270B9F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55AE5C85-31B8-717E-1CAC-98FCA456D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95848"/>
            <a:ext cx="10288434" cy="347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19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985E-0222-5EA0-FEDA-C8BBA2FE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B66FA-D0B6-4CED-AEE8-E1849517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残差学习框架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42A5405-E0D3-3223-7C33-1311380BD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738912E-7D97-93CF-DCDD-9CE03F645118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153143D-567A-2F34-56DA-571053B1C74F}"/>
              </a:ext>
            </a:extLst>
          </p:cNvPr>
          <p:cNvPicPr>
            <a:picLocks/>
          </p:cNvPicPr>
          <p:nvPr/>
        </p:nvPicPr>
        <p:blipFill>
          <a:blip r:embed="rId3"/>
          <a:srcRect l="-154" t="14836"/>
          <a:stretch>
            <a:fillRect/>
          </a:stretch>
        </p:blipFill>
        <p:spPr>
          <a:xfrm>
            <a:off x="2966550" y="1696538"/>
            <a:ext cx="6258900" cy="322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3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7675-1F99-B25A-5D60-5D167B96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10E5C-E2B5-5CDB-EEDA-C72FECC6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5359"/>
            <a:ext cx="10515600" cy="865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实验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496220-2F08-CB66-424A-DA47279FD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C0D0EC-56C3-2E41-F52F-3717936B3284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26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242F-A9FA-9607-4E93-0C5BC8EA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98773-8DF9-A204-32D2-2B67E73C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实验设置与基准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D92D55-4487-51FE-EEEA-D8897E232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9AA22BB-B64B-9C98-48FC-89127A3640C7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463C14A-D50E-E72F-EA9A-6A2902A1E93C}"/>
              </a:ext>
            </a:extLst>
          </p:cNvPr>
          <p:cNvSpPr txBox="1"/>
          <p:nvPr/>
        </p:nvSpPr>
        <p:spPr>
          <a:xfrm>
            <a:off x="838200" y="1859339"/>
            <a:ext cx="8405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="1" dirty="0"/>
              <a:t>Dataset:</a:t>
            </a:r>
            <a:r>
              <a:rPr lang="en-US" altLang="zh-CN" dirty="0"/>
              <a:t> ImageNet 2012 classification dataset (1000 classes).</a:t>
            </a:r>
            <a:endParaRPr lang="zh-CN" altLang="zh-CN" dirty="0"/>
          </a:p>
          <a:p>
            <a:pPr lvl="2"/>
            <a:r>
              <a:rPr lang="en-US" altLang="zh-CN" dirty="0"/>
              <a:t>Training: 1.28 million images.</a:t>
            </a:r>
            <a:endParaRPr lang="zh-CN" altLang="zh-CN" dirty="0"/>
          </a:p>
          <a:p>
            <a:pPr lvl="2"/>
            <a:r>
              <a:rPr lang="en-US" altLang="zh-CN" dirty="0"/>
              <a:t>Validation: 50k images.</a:t>
            </a:r>
            <a:endParaRPr lang="zh-CN" altLang="zh-CN" dirty="0"/>
          </a:p>
          <a:p>
            <a:pPr lvl="1"/>
            <a:r>
              <a:rPr lang="en-US" altLang="zh-CN" b="1" dirty="0"/>
              <a:t>Training Settings:</a:t>
            </a:r>
            <a:endParaRPr lang="zh-CN" altLang="zh-CN" dirty="0"/>
          </a:p>
          <a:p>
            <a:pPr lvl="2"/>
            <a:r>
              <a:rPr lang="en-US" altLang="zh-CN" dirty="0"/>
              <a:t>Data Augmentation: Resize, Crop (224x224), Horizontal Flip, Color Augmentation .</a:t>
            </a:r>
            <a:endParaRPr lang="zh-CN" altLang="zh-CN" dirty="0"/>
          </a:p>
          <a:p>
            <a:pPr lvl="2"/>
            <a:r>
              <a:rPr lang="en-US" altLang="zh-CN" b="1" dirty="0"/>
              <a:t>Standard:</a:t>
            </a:r>
            <a:r>
              <a:rPr lang="en-US" altLang="zh-CN" dirty="0"/>
              <a:t> Batch Normalization (BN) after every convolution.</a:t>
            </a:r>
            <a:endParaRPr lang="zh-CN" altLang="zh-CN" dirty="0"/>
          </a:p>
          <a:p>
            <a:pPr lvl="2"/>
            <a:r>
              <a:rPr lang="en-US" altLang="zh-CN" b="1" dirty="0"/>
              <a:t>Optimizer:</a:t>
            </a:r>
            <a:r>
              <a:rPr lang="en-US" altLang="zh-CN" dirty="0"/>
              <a:t> SGD, Mini-batch 256, Momentum 0.9, Weight decay 0.0001.</a:t>
            </a:r>
            <a:endParaRPr lang="zh-CN" altLang="zh-CN" dirty="0"/>
          </a:p>
          <a:p>
            <a:pPr lvl="2"/>
            <a:r>
              <a:rPr lang="en-US" altLang="zh-CN" b="1" dirty="0"/>
              <a:t>No Dropout</a:t>
            </a:r>
            <a:r>
              <a:rPr lang="en-US" altLang="zh-CN" dirty="0"/>
              <a:t> used.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713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56E1-4D6C-D222-9F8C-8FC5CAD1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553BB-0152-7E40-437E-0446F8AB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退化问题的解决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0FCE6E9-D542-1D31-1EC3-9DC2D4167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6C9AD1-D548-08AC-D03C-3AD803278C04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E1043A3-28E6-06AA-4DF4-C12A4A18D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8" y="1566602"/>
            <a:ext cx="10993384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49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72C1-3084-F8E8-8EDB-C2FB2CA1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4D8B1-B788-7C7B-B28F-6E2DAE3A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152</a:t>
            </a:r>
            <a:r>
              <a:rPr lang="zh-CN" altLang="zh-CN" sz="3200" dirty="0"/>
              <a:t>层与瓶颈结构</a:t>
            </a: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C5BC8C-7995-DB27-9CC5-1B3E60667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F8F4D8D-E66D-49FD-64C5-614AFB9111EB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B3AABF66-A268-C53D-AF9F-4362BB6C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07" y="2660450"/>
            <a:ext cx="6382641" cy="2581635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265084A8-5A97-7E70-4A6C-78202AB20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663" y="3004559"/>
            <a:ext cx="4410691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71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782F-80F6-1D1F-61E1-E6C2D69A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AEB9F-10E9-0082-7C62-EBBC50A2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SOTA</a:t>
            </a:r>
            <a:r>
              <a:rPr lang="zh-CN" altLang="zh-CN" sz="3200" dirty="0"/>
              <a:t>对比与成果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05AD640-9FC3-2F31-DD31-2CE4125D6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B227EA-409D-5E9A-D6A7-6CD85964473E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A0A04460-61F1-CAF0-3A01-6D5D7AB13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898" y="1583072"/>
            <a:ext cx="4048690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5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9646-B645-D247-6753-92D5EE94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6BA82-0FF0-2EA8-6A11-5FBC294E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53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深度分析与</a:t>
            </a:r>
            <a:r>
              <a:rPr lang="en-US" altLang="zh-CN" sz="3200" dirty="0"/>
              <a:t>CIFAR-10 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03A9FE-AE0E-37CB-A151-177AC5D38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99D7B67-3A49-C7B3-056B-DE9FFC410888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直方图&#10;&#10;AI 生成的内容可能不正确。">
            <a:extLst>
              <a:ext uri="{FF2B5EF4-FFF2-40B4-BE49-F238E27FC236}">
                <a16:creationId xmlns:a16="http://schemas.microsoft.com/office/drawing/2014/main" id="{29C2D17F-BEA8-DEF4-B856-3DBB132F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88" y="1548526"/>
            <a:ext cx="8945223" cy="2181529"/>
          </a:xfrm>
          <a:prstGeom prst="rect">
            <a:avLst/>
          </a:prstGeom>
        </p:spPr>
      </p:pic>
      <p:pic>
        <p:nvPicPr>
          <p:cNvPr id="10" name="图片 9" descr="图片包含 图示&#10;&#10;AI 生成的内容可能不正确。">
            <a:extLst>
              <a:ext uri="{FF2B5EF4-FFF2-40B4-BE49-F238E27FC236}">
                <a16:creationId xmlns:a16="http://schemas.microsoft.com/office/drawing/2014/main" id="{E0D0C688-6E69-1182-4A6C-ADFA65BF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173" y="3847182"/>
            <a:ext cx="416300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1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0B9B-4E6E-E451-0E41-AB8B58B3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EB520-984A-05BD-1ABB-8306CC20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5359"/>
            <a:ext cx="10515600" cy="865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课程联系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EAE4515-C586-2BE7-FC65-7B1E2C22B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2758D5C-BA74-638C-CB71-9C02C60208FD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23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0BA8B-BDC6-4853-01E5-FC197787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262F6-2302-A840-B3B7-E054B906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74" y="1661910"/>
            <a:ext cx="10515600" cy="488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对深度学习的贡献：重新定义了“深度”</a:t>
            </a: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r>
              <a:rPr lang="en-US" altLang="zh-CN" sz="2000" dirty="0"/>
              <a:t>2.</a:t>
            </a:r>
            <a:r>
              <a:rPr lang="zh-CN" altLang="en-US" sz="2000" dirty="0"/>
              <a:t>对“检测”与“分割”的贡献：提供了最强的特征提取器</a:t>
            </a: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r>
              <a:rPr lang="en-US" altLang="zh-CN" sz="2000" dirty="0"/>
              <a:t>3.</a:t>
            </a:r>
            <a:r>
              <a:rPr lang="zh-CN" altLang="en-US" sz="2000" dirty="0"/>
              <a:t>对“底层视觉”与“图像复原”的贡献：残差学习思想的直接应用</a:t>
            </a: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r>
              <a:rPr lang="en-US" altLang="zh-CN" sz="2000" dirty="0"/>
              <a:t>4.</a:t>
            </a:r>
            <a:r>
              <a:rPr lang="zh-CN" altLang="zh-CN" sz="2200" dirty="0"/>
              <a:t>对</a:t>
            </a:r>
            <a:r>
              <a:rPr lang="en-US" altLang="zh-CN" sz="2200" dirty="0"/>
              <a:t>“</a:t>
            </a:r>
            <a:r>
              <a:rPr lang="zh-CN" altLang="zh-CN" sz="2200" dirty="0"/>
              <a:t>特征提取</a:t>
            </a:r>
            <a:r>
              <a:rPr lang="en-US" altLang="zh-CN" sz="2200" dirty="0"/>
              <a:t>”</a:t>
            </a:r>
            <a:r>
              <a:rPr lang="zh-CN" altLang="zh-CN" sz="2200" dirty="0"/>
              <a:t>与</a:t>
            </a:r>
            <a:r>
              <a:rPr lang="en-US" altLang="zh-CN" sz="2200" dirty="0"/>
              <a:t>“</a:t>
            </a:r>
            <a:r>
              <a:rPr lang="zh-CN" altLang="zh-CN" sz="2200" dirty="0"/>
              <a:t>视觉重建</a:t>
            </a:r>
            <a:r>
              <a:rPr lang="en-US" altLang="zh-CN" sz="2200" dirty="0"/>
              <a:t>”</a:t>
            </a:r>
            <a:r>
              <a:rPr lang="zh-CN" altLang="zh-CN" sz="2200" dirty="0"/>
              <a:t>的贡献：从手工特征到深度特征的转折</a:t>
            </a: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2A3E16B-610F-2E88-DF16-CED108C37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66" y="310124"/>
            <a:ext cx="865534" cy="865534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9C0F749-54D1-75F2-8922-96833460EAD0}"/>
              </a:ext>
            </a:extLst>
          </p:cNvPr>
          <p:cNvCxnSpPr/>
          <p:nvPr/>
        </p:nvCxnSpPr>
        <p:spPr>
          <a:xfrm>
            <a:off x="893774" y="1236928"/>
            <a:ext cx="105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48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400</Words>
  <Application>Microsoft Office PowerPoint</Application>
  <PresentationFormat>宽屏</PresentationFormat>
  <Paragraphs>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Lucida Grande</vt:lpstr>
      <vt:lpstr>等线</vt:lpstr>
      <vt:lpstr>等线 Light</vt:lpstr>
      <vt:lpstr>Arial</vt:lpstr>
      <vt:lpstr>Office 主题​​</vt:lpstr>
      <vt:lpstr>PowerPoint 演示文稿</vt:lpstr>
      <vt:lpstr>目录</vt:lpstr>
      <vt:lpstr>任务背景</vt:lpstr>
      <vt:lpstr>深度神经网络</vt:lpstr>
      <vt:lpstr>梯度消失/爆炸</vt:lpstr>
      <vt:lpstr>退化问题</vt:lpstr>
      <vt:lpstr>相关工作</vt:lpstr>
      <vt:lpstr>VGG (Visual Geometry Group)</vt:lpstr>
      <vt:lpstr>捷径连接</vt:lpstr>
      <vt:lpstr>创新点</vt:lpstr>
      <vt:lpstr>残差表示</vt:lpstr>
      <vt:lpstr>残差学习框架</vt:lpstr>
      <vt:lpstr>实验</vt:lpstr>
      <vt:lpstr>实验设置与基准</vt:lpstr>
      <vt:lpstr>退化问题的解决</vt:lpstr>
      <vt:lpstr>152层与瓶颈结构</vt:lpstr>
      <vt:lpstr>SOTA对比与成果</vt:lpstr>
      <vt:lpstr>深度分析与CIFAR-10 </vt:lpstr>
      <vt:lpstr>课程联系</vt:lpstr>
      <vt:lpstr>1.对深度学习的贡献：重新定义了“深度”    2.对“检测”与“分割”的贡献：提供了最强的特征提取器    3.对“底层视觉”与“图像复原”的贡献：残差学习思想的直接应用    4.对“特征提取”与“视觉重建”的贡献：从手工特征到深度特征的转折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银昊 许</dc:creator>
  <cp:lastModifiedBy>Zongxun Zhang</cp:lastModifiedBy>
  <cp:revision>80</cp:revision>
  <dcterms:created xsi:type="dcterms:W3CDTF">2025-12-09T02:58:36Z</dcterms:created>
  <dcterms:modified xsi:type="dcterms:W3CDTF">2026-01-02T08:49:06Z</dcterms:modified>
</cp:coreProperties>
</file>